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200" b="1">
                <a:solidFill>
                  <a:srgbClr val="1A56DB"/>
                </a:solidFill>
                <a:latin typeface="Calibri"/>
              </a:rPr>
              <a:t>Our Three Plans</a:t>
            </a:r>
          </a:p>
        </p:txBody>
      </p:sp>
      <p:sp>
        <p:nvSpPr>
          <p:cNvPr id="3" name="Rectangle 2"/>
          <p:cNvSpPr/>
          <p:nvPr/>
        </p:nvSpPr>
        <p:spPr>
          <a:xfrm>
            <a:off x="563727" y="1188720"/>
            <a:ext cx="3474720" cy="4572000"/>
          </a:xfrm>
          <a:prstGeom prst="rect">
            <a:avLst/>
          </a:prstGeom>
          <a:solidFill>
            <a:srgbClr val="F9FAFB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63727" y="1188720"/>
            <a:ext cx="3474720" cy="77724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3727" y="1234440"/>
            <a:ext cx="3474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Calibri"/>
              </a:rPr>
              <a:t>Plan 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3727" y="1481328"/>
            <a:ext cx="3474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Calibri"/>
              </a:rPr>
              <a:t>GROWTH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92327" y="2130552"/>
            <a:ext cx="30175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1">
                <a:solidFill>
                  <a:srgbClr val="6B7280"/>
                </a:solidFill>
                <a:latin typeface="Calibri"/>
              </a:rPr>
              <a:t>BASE FEE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2327" y="2368296"/>
            <a:ext cx="30175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11827"/>
                </a:solidFill>
                <a:latin typeface="Calibri"/>
              </a:rPr>
              <a:t>$0/mo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2327" y="3044952"/>
            <a:ext cx="30175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1">
                <a:solidFill>
                  <a:srgbClr val="6B7280"/>
                </a:solidFill>
                <a:latin typeface="Calibri"/>
              </a:rPr>
              <a:t>VARIABLE FEE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2327" y="3282696"/>
            <a:ext cx="30175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11827"/>
                </a:solidFill>
                <a:latin typeface="Calibri"/>
              </a:rPr>
              <a:t>20% up to $30k
15% from $30k–$60k
10% above $60k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2327" y="3959352"/>
            <a:ext cx="30175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1">
                <a:solidFill>
                  <a:srgbClr val="6B7280"/>
                </a:solidFill>
                <a:latin typeface="Calibri"/>
              </a:rPr>
              <a:t>MONTHLY CAP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92327" y="4197096"/>
            <a:ext cx="30175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11827"/>
                </a:solidFill>
                <a:latin typeface="Calibri"/>
              </a:rPr>
              <a:t>$15,000 maximum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2327" y="4873752"/>
            <a:ext cx="30175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1">
                <a:solidFill>
                  <a:srgbClr val="6B7280"/>
                </a:solidFill>
                <a:latin typeface="Calibri"/>
              </a:rPr>
              <a:t>ONBOARDING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2327" y="5111496"/>
            <a:ext cx="30175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11827"/>
                </a:solidFill>
                <a:latin typeface="Calibri"/>
              </a:rPr>
              <a:t>$1,500 per platform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358487" y="1188720"/>
            <a:ext cx="3474720" cy="4572000"/>
          </a:xfrm>
          <a:prstGeom prst="rect">
            <a:avLst/>
          </a:prstGeom>
          <a:solidFill>
            <a:srgbClr val="F9FAFB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358487" y="1188720"/>
            <a:ext cx="3474720" cy="77724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58487" y="1234440"/>
            <a:ext cx="3474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Calibri"/>
              </a:rPr>
              <a:t>Plan B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58487" y="1481328"/>
            <a:ext cx="3474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Calibri"/>
              </a:rPr>
              <a:t>SHARED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87087" y="2130552"/>
            <a:ext cx="30175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1">
                <a:solidFill>
                  <a:srgbClr val="6B7280"/>
                </a:solidFill>
                <a:latin typeface="Calibri"/>
              </a:rPr>
              <a:t>BASE FEE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87087" y="2368296"/>
            <a:ext cx="30175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11827"/>
                </a:solidFill>
                <a:latin typeface="Calibri"/>
              </a:rPr>
              <a:t>$3,000/mo flat
(all platforms)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87087" y="3044952"/>
            <a:ext cx="30175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1">
                <a:solidFill>
                  <a:srgbClr val="6B7280"/>
                </a:solidFill>
                <a:latin typeface="Calibri"/>
              </a:rPr>
              <a:t>VARIABLE FEE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87087" y="3282696"/>
            <a:ext cx="30175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11827"/>
                </a:solidFill>
                <a:latin typeface="Calibri"/>
              </a:rPr>
              <a:t>10% of total combined
ad spend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87087" y="3959352"/>
            <a:ext cx="30175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1">
                <a:solidFill>
                  <a:srgbClr val="6B7280"/>
                </a:solidFill>
                <a:latin typeface="Calibri"/>
              </a:rPr>
              <a:t>MONTHLY CAP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87087" y="4197096"/>
            <a:ext cx="30175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11827"/>
                </a:solidFill>
                <a:latin typeface="Calibri"/>
              </a:rPr>
              <a:t>$12,000 maximum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87087" y="4873752"/>
            <a:ext cx="30175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1">
                <a:solidFill>
                  <a:srgbClr val="6B7280"/>
                </a:solidFill>
                <a:latin typeface="Calibri"/>
              </a:rPr>
              <a:t>ONBOARDING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87087" y="5111496"/>
            <a:ext cx="30175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11827"/>
                </a:solidFill>
                <a:latin typeface="Calibri"/>
              </a:rPr>
              <a:t>$1,500 per platform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153247" y="1188720"/>
            <a:ext cx="3474720" cy="4572000"/>
          </a:xfrm>
          <a:prstGeom prst="rect">
            <a:avLst/>
          </a:prstGeom>
          <a:solidFill>
            <a:srgbClr val="F9FAFB"/>
          </a:solidFill>
          <a:ln w="9525">
            <a:solidFill>
              <a:srgbClr val="E5E7E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8153247" y="1188720"/>
            <a:ext cx="3474720" cy="777240"/>
          </a:xfrm>
          <a:prstGeom prst="rect">
            <a:avLst/>
          </a:prstGeom>
          <a:solidFill>
            <a:srgbClr val="1A56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153247" y="1234440"/>
            <a:ext cx="34747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0">
                <a:solidFill>
                  <a:srgbClr val="FFFFFF"/>
                </a:solidFill>
                <a:latin typeface="Calibri"/>
              </a:rPr>
              <a:t>Plan 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153247" y="1481328"/>
            <a:ext cx="347472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400" b="1">
                <a:solidFill>
                  <a:srgbClr val="FFFFFF"/>
                </a:solidFill>
                <a:latin typeface="Calibri"/>
              </a:rPr>
              <a:t>RETAINER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81847" y="2130552"/>
            <a:ext cx="30175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1">
                <a:solidFill>
                  <a:srgbClr val="6B7280"/>
                </a:solidFill>
                <a:latin typeface="Calibri"/>
              </a:rPr>
              <a:t>BASE FEE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381847" y="2368296"/>
            <a:ext cx="30175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11827"/>
                </a:solidFill>
                <a:latin typeface="Calibri"/>
              </a:rPr>
              <a:t>$10,000/mo flat
(all platforms)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81847" y="3044952"/>
            <a:ext cx="30175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1">
                <a:solidFill>
                  <a:srgbClr val="6B7280"/>
                </a:solidFill>
                <a:latin typeface="Calibri"/>
              </a:rPr>
              <a:t>VARIABLE FEE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381847" y="3282696"/>
            <a:ext cx="30175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11827"/>
                </a:solidFill>
                <a:latin typeface="Calibri"/>
              </a:rPr>
              <a:t>None — 0% of ad spend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81847" y="3959352"/>
            <a:ext cx="30175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1">
                <a:solidFill>
                  <a:srgbClr val="6B7280"/>
                </a:solidFill>
                <a:latin typeface="Calibri"/>
              </a:rPr>
              <a:t>MONTHLY CAP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81847" y="4197096"/>
            <a:ext cx="30175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11827"/>
                </a:solidFill>
                <a:latin typeface="Calibri"/>
              </a:rPr>
              <a:t>N/A — fee is fixed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81847" y="4873752"/>
            <a:ext cx="3017520" cy="228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900" b="1">
                <a:solidFill>
                  <a:srgbClr val="6B7280"/>
                </a:solidFill>
                <a:latin typeface="Calibri"/>
              </a:rPr>
              <a:t>ONBOARDING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81847" y="5111496"/>
            <a:ext cx="30175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200" b="1">
                <a:solidFill>
                  <a:srgbClr val="111827"/>
                </a:solidFill>
                <a:latin typeface="Calibri"/>
              </a:rPr>
              <a:t>$1,500 per platform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40080" y="5943600"/>
            <a:ext cx="108813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7280"/>
                </a:solidFill>
                <a:latin typeface="Calibri"/>
              </a:rPr>
              <a:t>Plan A has a $1,500 minimum fee per platform. This acts as a floor, covering your first $7,500 in ad spend. Once you spend over $7,500, the 20% rate naturally takes over.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3200" b="1">
                <a:solidFill>
                  <a:srgbClr val="1A56DB"/>
                </a:solidFill>
                <a:latin typeface="Calibri"/>
              </a:rPr>
              <a:t>How the Plans Compare</a:t>
            </a:r>
          </a:p>
        </p:txBody>
      </p:sp>
      <p:pic>
        <p:nvPicPr>
          <p:cNvPr id="3" name="Picture 2" descr="proposal_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047" y="1097280"/>
            <a:ext cx="10515600" cy="474144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914400" y="5852160"/>
            <a:ext cx="103327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300" b="0">
                <a:solidFill>
                  <a:srgbClr val="111827"/>
                </a:solidFill>
                <a:latin typeface="Calibri"/>
              </a:rPr>
              <a:t>Plans A and B cost exactly the same at $30,000/month in ad spend. As your budget scales past $60,000/month, Plan C (the flat retainer) becomes the most cost-effective option.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